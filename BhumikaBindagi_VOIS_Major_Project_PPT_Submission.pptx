
<file path=[Content_Types].xml><?xml version="1.0" encoding="utf-8"?>
<Types xmlns="http://schemas.openxmlformats.org/package/2006/content-types">
  <Default Extension="emf" ContentType="image/x-emf"/>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9"/>
  </p:notesMasterIdLst>
  <p:handoutMasterIdLst>
    <p:handoutMasterId r:id="rId20"/>
  </p:handoutMasterIdLst>
  <p:sldIdLst>
    <p:sldId id="338" r:id="rId5"/>
    <p:sldId id="327" r:id="rId6"/>
    <p:sldId id="315" r:id="rId7"/>
    <p:sldId id="329" r:id="rId8"/>
    <p:sldId id="302" r:id="rId9"/>
    <p:sldId id="339" r:id="rId10"/>
    <p:sldId id="340" r:id="rId11"/>
    <p:sldId id="344" r:id="rId12"/>
    <p:sldId id="345" r:id="rId13"/>
    <p:sldId id="346" r:id="rId14"/>
    <p:sldId id="341" r:id="rId15"/>
    <p:sldId id="342" r:id="rId16"/>
    <p:sldId id="343" r:id="rId17"/>
    <p:sldId id="304"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80" d="100"/>
          <a:sy n="80" d="100"/>
        </p:scale>
        <p:origin x="56" y="220"/>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handoutMaster" Target="handoutMasters/handout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9/8/2026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9/8/2026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9/8/2026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9/8/2026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9/8/2026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2.xml.rels><?xml version="1.0" encoding="UTF-8" standalone="yes"?>
<Relationships xmlns="http://schemas.openxmlformats.org/package/2006/relationships"><Relationship Id="rId3" Type="http://schemas.openxmlformats.org/officeDocument/2006/relationships/hyperlink" Target="https://github.com/BhumikaBindagi06/seasonal-agriculture-performance-analysis.git" TargetMode="External"/><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14.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750203" y="3639476"/>
            <a:ext cx="5345797" cy="1022622"/>
          </a:xfrm>
        </p:spPr>
        <p:txBody>
          <a:bodyPr vert="horz" lIns="91440" tIns="45720" rIns="91440" bIns="45720" rtlCol="0" anchor="t">
            <a:normAutofit/>
          </a:bodyPr>
          <a:lstStyle/>
          <a:p>
            <a:r>
              <a:rPr lang="en-US" sz="1900" b="0" dirty="0">
                <a:solidFill>
                  <a:schemeClr val="tx1"/>
                </a:solidFill>
                <a:latin typeface="+mn-lt"/>
              </a:rPr>
              <a:t>Student Name: Bhumika Bindagi</a:t>
            </a:r>
          </a:p>
          <a:p>
            <a:r>
              <a:rPr lang="en-US" sz="1900" b="0" dirty="0">
                <a:solidFill>
                  <a:schemeClr val="tx1"/>
                </a:solidFill>
                <a:latin typeface="+mn-lt"/>
              </a:rPr>
              <a:t>College Name: RNS Institute of Technology</a:t>
            </a:r>
            <a:endParaRPr lang="en-IN" sz="1900" b="0" dirty="0">
              <a:solidFill>
                <a:schemeClr val="tx1"/>
              </a:solidFill>
              <a:latin typeface="+mn-lt"/>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678363" y="2844750"/>
            <a:ext cx="9531111" cy="584250"/>
          </a:xfrm>
        </p:spPr>
        <p:txBody>
          <a:bodyPr>
            <a:noAutofit/>
          </a:bodyPr>
          <a:lstStyle/>
          <a:p>
            <a:r>
              <a:rPr lang="en-GB" sz="2900" dirty="0">
                <a:latin typeface="+mj-lt"/>
              </a:rPr>
              <a:t>Project Title -</a:t>
            </a:r>
            <a:r>
              <a:rPr lang="en-IN" sz="2900" dirty="0">
                <a:latin typeface="+mj-lt"/>
              </a:rPr>
              <a:t>Seasonal Agriculture Performance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3" name="TextBox 2">
            <a:extLst>
              <a:ext uri="{FF2B5EF4-FFF2-40B4-BE49-F238E27FC236}">
                <a16:creationId xmlns:a16="http://schemas.microsoft.com/office/drawing/2014/main" id="{17F04107-8754-E47D-3375-529E689711FA}"/>
              </a:ext>
            </a:extLst>
          </p:cNvPr>
          <p:cNvSpPr txBox="1"/>
          <p:nvPr/>
        </p:nvSpPr>
        <p:spPr>
          <a:xfrm>
            <a:off x="750204" y="4462517"/>
            <a:ext cx="5650596" cy="384721"/>
          </a:xfrm>
          <a:prstGeom prst="rect">
            <a:avLst/>
          </a:prstGeom>
          <a:noFill/>
        </p:spPr>
        <p:txBody>
          <a:bodyPr wrap="square" rtlCol="0">
            <a:spAutoFit/>
          </a:bodyPr>
          <a:lstStyle/>
          <a:p>
            <a:r>
              <a:rPr lang="en-US" sz="1900" b="1" dirty="0"/>
              <a:t>AICTE STU ID : STU6a69ae0d88fc91785310733</a:t>
            </a:r>
          </a:p>
        </p:txBody>
      </p:sp>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675957" y="1749972"/>
            <a:ext cx="6753968" cy="4312503"/>
          </a:xfrm>
        </p:spPr>
        <p:txBody>
          <a:bodyPr vert="horz" lIns="91440" tIns="45720" rIns="91440" bIns="45720" rtlCol="0" anchor="t">
            <a:normAutofit fontScale="92500" lnSpcReduction="20000"/>
          </a:bodyPr>
          <a:lstStyle/>
          <a:p>
            <a:r>
              <a:rPr lang="en-US" dirty="0">
                <a:solidFill>
                  <a:schemeClr val="tx1"/>
                </a:solidFill>
              </a:rPr>
              <a:t>Agricultural activities are influenced by seasonal variations in environmental conditions,</a:t>
            </a:r>
          </a:p>
          <a:p>
            <a:r>
              <a:rPr lang="en-US" dirty="0">
                <a:solidFill>
                  <a:schemeClr val="tx1"/>
                </a:solidFill>
              </a:rPr>
              <a:t>farming practices, resource availability and market conditions. As a result, agricultural</a:t>
            </a:r>
          </a:p>
          <a:p>
            <a:r>
              <a:rPr lang="en-US" dirty="0">
                <a:solidFill>
                  <a:schemeClr val="tx1"/>
                </a:solidFill>
              </a:rPr>
              <a:t>performance may differ from one season to another.</a:t>
            </a:r>
          </a:p>
          <a:p>
            <a:r>
              <a:rPr lang="en-US" dirty="0">
                <a:solidFill>
                  <a:schemeClr val="tx1"/>
                </a:solidFill>
              </a:rPr>
              <a:t>However, raw agricultural data does not clearly explain how agricultural performance changes</a:t>
            </a:r>
          </a:p>
          <a:p>
            <a:r>
              <a:rPr lang="en-US" dirty="0">
                <a:solidFill>
                  <a:schemeClr val="tx1"/>
                </a:solidFill>
              </a:rPr>
              <a:t>across seasons or what patterns can be observed in different seasonal conditions.</a:t>
            </a:r>
          </a:p>
          <a:p>
            <a:r>
              <a:rPr lang="en-US" dirty="0">
                <a:solidFill>
                  <a:schemeClr val="tx1"/>
                </a:solidFill>
              </a:rPr>
              <a:t>The problem is to analyze the given agricultural dataset and investigate seasonal differences</a:t>
            </a:r>
          </a:p>
          <a:p>
            <a:r>
              <a:rPr lang="en-US" dirty="0">
                <a:solidFill>
                  <a:schemeClr val="tx1"/>
                </a:solidFill>
              </a:rPr>
              <a:t>in agricultural performance by identifying meaningful patterns, trends, relationships and</a:t>
            </a:r>
          </a:p>
          <a:p>
            <a:r>
              <a:rPr lang="en-US" dirty="0">
                <a:solidFill>
                  <a:schemeClr val="tx1"/>
                </a:solidFill>
              </a:rPr>
              <a:t>variations within the available data.</a:t>
            </a:r>
            <a:endParaRPr lang="en-IN" sz="2800" dirty="0">
              <a:solidFill>
                <a:schemeClr val="tx1"/>
              </a:solidFill>
            </a:endParaRPr>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a:bodyPr>
          <a:lstStyle/>
          <a:p>
            <a:r>
              <a:rPr lang="en-US" sz="4000" dirty="0"/>
              <a:t>PROBLEM  STATEMENT</a:t>
            </a:r>
            <a:endParaRPr lang="en-IN" sz="4000"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2">
                                            <p:txEl>
                                              <p:pRg st="7" end="7"/>
                                            </p:txEl>
                                          </p:spTgt>
                                        </p:tgtEl>
                                        <p:attrNameLst>
                                          <p:attrName>style.visibility</p:attrName>
                                        </p:attrNameLst>
                                      </p:cBhvr>
                                      <p:to>
                                        <p:strVal val="visible"/>
                                      </p:to>
                                    </p:set>
                                    <p:animEffect transition="in" filter="fade">
                                      <p:cBhvr>
                                        <p:cTn id="63" dur="1000"/>
                                        <p:tgtEl>
                                          <p:spTgt spid="2">
                                            <p:txEl>
                                              <p:pRg st="7" end="7"/>
                                            </p:txEl>
                                          </p:spTgt>
                                        </p:tgtEl>
                                      </p:cBhvr>
                                    </p:animEffect>
                                    <p:anim calcmode="lin" valueType="num">
                                      <p:cBhvr>
                                        <p:cTn id="64" dur="1000" fill="hold"/>
                                        <p:tgtEl>
                                          <p:spTgt spid="2">
                                            <p:txEl>
                                              <p:pRg st="7" end="7"/>
                                            </p:txEl>
                                          </p:spTgt>
                                        </p:tgtEl>
                                        <p:attrNameLst>
                                          <p:attrName>ppt_x</p:attrName>
                                        </p:attrNameLst>
                                      </p:cBhvr>
                                      <p:tavLst>
                                        <p:tav tm="0">
                                          <p:val>
                                            <p:strVal val="#ppt_x"/>
                                          </p:val>
                                        </p:tav>
                                        <p:tav tm="100000">
                                          <p:val>
                                            <p:strVal val="#ppt_x"/>
                                          </p:val>
                                        </p:tav>
                                      </p:tavLst>
                                    </p:anim>
                                    <p:anim calcmode="lin" valueType="num">
                                      <p:cBhvr>
                                        <p:cTn id="65" dur="1000" fill="hold"/>
                                        <p:tgtEl>
                                          <p:spTgt spid="2">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sz="4400" dirty="0"/>
              <a:t>Project Description</a:t>
            </a: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8825F82B-432C-8831-D916-2D4541C9B4C9}"/>
              </a:ext>
            </a:extLst>
          </p:cNvPr>
          <p:cNvSpPr txBox="1"/>
          <p:nvPr/>
        </p:nvSpPr>
        <p:spPr>
          <a:xfrm>
            <a:off x="660399" y="2538360"/>
            <a:ext cx="7791839" cy="3308598"/>
          </a:xfrm>
          <a:prstGeom prst="rect">
            <a:avLst/>
          </a:prstGeom>
          <a:noFill/>
        </p:spPr>
        <p:txBody>
          <a:bodyPr wrap="square" rtlCol="0">
            <a:spAutoFit/>
          </a:bodyPr>
          <a:lstStyle/>
          <a:p>
            <a:pPr algn="just"/>
            <a:r>
              <a:rPr lang="en-US" sz="1900" dirty="0"/>
              <a:t>This project compares and contrasts agricultural data from the three seasons of Kharif, Rabi and Zaid to determine agricultural productivity gaps, resource use, environmental factors and economic performance. The analysis includes data exploration, preprocessing, statistical analysis and visualization for comparing the seasonal patterns of crop and region. Factors like yield, production, water use, water-use efficiency, disease/pest risks, revenue, cost and profit are analyzed to find significant differences and unusual patterns. The results offer evidence-based information to inform season-specific agricultural planning, resource management, crop selection, and regional decision making</a:t>
            </a:r>
            <a:r>
              <a:rPr lang="en-US" dirty="0"/>
              <a:t>.</a:t>
            </a:r>
            <a:endParaRPr lang="en-IN"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62500" lnSpcReduction="20000"/>
          </a:bodyPr>
          <a:lstStyle/>
          <a:p>
            <a:pPr lvl="0"/>
            <a:r>
              <a:rPr lang="en-IN" sz="3500" b="1" dirty="0">
                <a:solidFill>
                  <a:schemeClr val="tx1"/>
                </a:solidFill>
              </a:rPr>
              <a:t>Farmers &amp; Farm Managers</a:t>
            </a:r>
            <a:r>
              <a:rPr lang="en-IN" sz="3500" dirty="0">
                <a:solidFill>
                  <a:schemeClr val="tx1"/>
                </a:solidFill>
              </a:rPr>
              <a:t> — for season-wise crop and resource planning </a:t>
            </a:r>
          </a:p>
          <a:p>
            <a:pPr lvl="0"/>
            <a:r>
              <a:rPr lang="en-IN" sz="3500" b="1" dirty="0">
                <a:solidFill>
                  <a:schemeClr val="tx1"/>
                </a:solidFill>
              </a:rPr>
              <a:t>Agricultural Planners</a:t>
            </a:r>
            <a:r>
              <a:rPr lang="en-IN" sz="3500" dirty="0">
                <a:solidFill>
                  <a:schemeClr val="tx1"/>
                </a:solidFill>
              </a:rPr>
              <a:t> — for data-driven seasonal planning and decision-making </a:t>
            </a:r>
          </a:p>
          <a:p>
            <a:pPr lvl="0"/>
            <a:r>
              <a:rPr lang="en-IN" sz="3500" b="1" dirty="0">
                <a:solidFill>
                  <a:schemeClr val="tx1"/>
                </a:solidFill>
              </a:rPr>
              <a:t>Agricultural Researchers</a:t>
            </a:r>
            <a:r>
              <a:rPr lang="en-IN" sz="3500" dirty="0">
                <a:solidFill>
                  <a:schemeClr val="tx1"/>
                </a:solidFill>
              </a:rPr>
              <a:t> — to study seasonal, crop, and regional patterns </a:t>
            </a:r>
          </a:p>
          <a:p>
            <a:pPr lvl="0"/>
            <a:r>
              <a:rPr lang="en-IN" sz="3500" b="1" dirty="0">
                <a:solidFill>
                  <a:schemeClr val="tx1"/>
                </a:solidFill>
              </a:rPr>
              <a:t>Agricultural Extension Officers</a:t>
            </a:r>
            <a:r>
              <a:rPr lang="en-IN" sz="3500" dirty="0">
                <a:solidFill>
                  <a:schemeClr val="tx1"/>
                </a:solidFill>
              </a:rPr>
              <a:t> — to provide evidence-based recommendations to farmers </a:t>
            </a:r>
          </a:p>
          <a:p>
            <a:pPr lvl="0"/>
            <a:r>
              <a:rPr lang="en-IN" sz="3500" b="1" dirty="0">
                <a:solidFill>
                  <a:schemeClr val="tx1"/>
                </a:solidFill>
              </a:rPr>
              <a:t>Government &amp; Policy Makers</a:t>
            </a:r>
            <a:r>
              <a:rPr lang="en-IN" sz="3500" dirty="0">
                <a:solidFill>
                  <a:schemeClr val="tx1"/>
                </a:solidFill>
              </a:rPr>
              <a:t> — for resource allocation and agricultural policy planning </a:t>
            </a:r>
          </a:p>
          <a:p>
            <a:pPr lvl="0"/>
            <a:r>
              <a:rPr lang="en-IN" sz="3500" b="1" dirty="0">
                <a:solidFill>
                  <a:schemeClr val="tx1"/>
                </a:solidFill>
              </a:rPr>
              <a:t>Agri-businesses &amp; Cooperatives</a:t>
            </a:r>
            <a:r>
              <a:rPr lang="en-IN" sz="3500" dirty="0">
                <a:solidFill>
                  <a:schemeClr val="tx1"/>
                </a:solidFill>
              </a:rPr>
              <a:t> — to support crop selection and profitability decisions</a:t>
            </a:r>
          </a:p>
          <a:p>
            <a:pPr algn="just">
              <a:lnSpc>
                <a:spcPct val="150000"/>
              </a:lnSpc>
            </a:pP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4000" dirty="0"/>
              <a:t>WHO ARE THE END USERS?</a:t>
            </a:r>
            <a:endParaRPr lang="en-IN" sz="4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778000" y="1774466"/>
            <a:ext cx="9027702" cy="5243448"/>
          </a:xfrm>
        </p:spPr>
        <p:txBody>
          <a:bodyPr/>
          <a:lstStyle/>
          <a:p>
            <a:pPr lvl="0"/>
            <a:r>
              <a:rPr lang="en-IN" sz="1900" b="1" dirty="0">
                <a:solidFill>
                  <a:schemeClr val="tx1"/>
                </a:solidFill>
              </a:rPr>
              <a:t>Python</a:t>
            </a:r>
            <a:r>
              <a:rPr lang="en-IN" sz="1900" dirty="0">
                <a:solidFill>
                  <a:schemeClr val="tx1"/>
                </a:solidFill>
              </a:rPr>
              <a:t> — Core programming and data analysis </a:t>
            </a:r>
          </a:p>
          <a:p>
            <a:pPr lvl="0"/>
            <a:r>
              <a:rPr lang="en-IN" sz="1900" b="1" dirty="0">
                <a:solidFill>
                  <a:schemeClr val="tx1"/>
                </a:solidFill>
              </a:rPr>
              <a:t>Pandas &amp; NumPy</a:t>
            </a:r>
            <a:r>
              <a:rPr lang="en-IN" sz="1900" dirty="0">
                <a:solidFill>
                  <a:schemeClr val="tx1"/>
                </a:solidFill>
              </a:rPr>
              <a:t> — Data cleaning, preprocessing, and numerical analysis </a:t>
            </a:r>
          </a:p>
          <a:p>
            <a:pPr lvl="0"/>
            <a:r>
              <a:rPr lang="en-IN" sz="1900" b="1" dirty="0">
                <a:solidFill>
                  <a:schemeClr val="tx1"/>
                </a:solidFill>
              </a:rPr>
              <a:t>Matplotlib &amp; Seaborn</a:t>
            </a:r>
            <a:r>
              <a:rPr lang="en-IN" sz="1900" dirty="0">
                <a:solidFill>
                  <a:schemeClr val="tx1"/>
                </a:solidFill>
              </a:rPr>
              <a:t> — Data visualization and seasonal comparisons </a:t>
            </a:r>
          </a:p>
          <a:p>
            <a:pPr lvl="0"/>
            <a:r>
              <a:rPr lang="en-IN" sz="1900" b="1" dirty="0">
                <a:solidFill>
                  <a:schemeClr val="tx1"/>
                </a:solidFill>
              </a:rPr>
              <a:t>SciPy</a:t>
            </a:r>
            <a:r>
              <a:rPr lang="en-IN" sz="1900" dirty="0">
                <a:solidFill>
                  <a:schemeClr val="tx1"/>
                </a:solidFill>
              </a:rPr>
              <a:t> — Statistical analysis and Kruskal–Wallis testing </a:t>
            </a:r>
          </a:p>
          <a:p>
            <a:pPr lvl="0"/>
            <a:r>
              <a:rPr lang="en-IN" sz="1900" b="1" dirty="0">
                <a:solidFill>
                  <a:schemeClr val="tx1"/>
                </a:solidFill>
              </a:rPr>
              <a:t>Google </a:t>
            </a:r>
            <a:r>
              <a:rPr lang="en-IN" sz="1900" b="1" dirty="0" err="1">
                <a:solidFill>
                  <a:schemeClr val="tx1"/>
                </a:solidFill>
              </a:rPr>
              <a:t>Colab</a:t>
            </a:r>
            <a:r>
              <a:rPr lang="en-IN" sz="1900" dirty="0">
                <a:solidFill>
                  <a:schemeClr val="tx1"/>
                </a:solidFill>
              </a:rPr>
              <a:t> — Analysis and documentation environment </a:t>
            </a:r>
          </a:p>
          <a:p>
            <a:pPr lvl="0"/>
            <a:r>
              <a:rPr lang="en-IN" sz="1900" b="1" dirty="0">
                <a:solidFill>
                  <a:schemeClr val="tx1"/>
                </a:solidFill>
              </a:rPr>
              <a:t>CSV Dataset</a:t>
            </a:r>
            <a:r>
              <a:rPr lang="en-IN" sz="1900" dirty="0">
                <a:solidFill>
                  <a:schemeClr val="tx1"/>
                </a:solidFill>
              </a:rPr>
              <a:t> — Source format for agricultural performance data</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11664467" cy="830997"/>
          </a:xfrm>
        </p:spPr>
        <p:txBody>
          <a:bodyPr>
            <a:normAutofit/>
          </a:bodyPr>
          <a:lstStyle/>
          <a:p>
            <a:r>
              <a:rPr lang="en-GB" sz="4000" dirty="0"/>
              <a:t>RESULTS-</a:t>
            </a:r>
            <a:r>
              <a:rPr lang="en-IN" sz="4000" dirty="0"/>
              <a:t>Seasonal Performance Comparison</a:t>
            </a:r>
            <a:r>
              <a:rPr lang="en-GB" sz="4000" dirty="0"/>
              <a:t> </a:t>
            </a:r>
            <a:endParaRPr lang="en-IN" sz="4000"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E61E227A-5883-4C77-B25A-46A22FFDF41F}"/>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99F892DA-9F4D-A4D0-5717-AF629F5852C4}"/>
              </a:ext>
            </a:extLst>
          </p:cNvPr>
          <p:cNvPicPr>
            <a:picLocks noChangeAspect="1"/>
          </p:cNvPicPr>
          <p:nvPr/>
        </p:nvPicPr>
        <p:blipFill>
          <a:blip r:embed="rId3"/>
          <a:stretch>
            <a:fillRect/>
          </a:stretch>
        </p:blipFill>
        <p:spPr>
          <a:xfrm>
            <a:off x="3260034" y="1271977"/>
            <a:ext cx="8666921" cy="5115132"/>
          </a:xfrm>
          <a:prstGeom prst="rect">
            <a:avLst/>
          </a:prstGeom>
        </p:spPr>
      </p:pic>
      <p:sp>
        <p:nvSpPr>
          <p:cNvPr id="6" name="Text Placeholder 2">
            <a:extLst>
              <a:ext uri="{FF2B5EF4-FFF2-40B4-BE49-F238E27FC236}">
                <a16:creationId xmlns:a16="http://schemas.microsoft.com/office/drawing/2014/main" id="{D5D95BFA-E46C-CC54-DFE4-81BAA0B96C2B}"/>
              </a:ext>
            </a:extLst>
          </p:cNvPr>
          <p:cNvSpPr>
            <a:spLocks noGrp="1"/>
          </p:cNvSpPr>
          <p:nvPr>
            <p:ph type="body" sz="quarter" idx="12"/>
          </p:nvPr>
        </p:nvSpPr>
        <p:spPr>
          <a:xfrm>
            <a:off x="430158" y="2116262"/>
            <a:ext cx="2634722" cy="3545067"/>
          </a:xfrm>
        </p:spPr>
        <p:txBody>
          <a:bodyPr>
            <a:normAutofit/>
          </a:bodyPr>
          <a:lstStyle/>
          <a:p>
            <a:pPr marL="0" lvl="0" indent="0">
              <a:buNone/>
            </a:pPr>
            <a:r>
              <a:rPr lang="en-IN" sz="1900" b="1" dirty="0">
                <a:solidFill>
                  <a:schemeClr val="tx1"/>
                </a:solidFill>
              </a:rPr>
              <a:t>Yield:</a:t>
            </a:r>
            <a:r>
              <a:rPr lang="en-IN" sz="1900" dirty="0">
                <a:solidFill>
                  <a:schemeClr val="tx1"/>
                </a:solidFill>
              </a:rPr>
              <a:t> Kharif highest; Zaid lowest. </a:t>
            </a:r>
          </a:p>
          <a:p>
            <a:pPr marL="0" lvl="0" indent="0">
              <a:buNone/>
            </a:pPr>
            <a:r>
              <a:rPr lang="en-IN" sz="1900" b="1" dirty="0">
                <a:solidFill>
                  <a:schemeClr val="tx1"/>
                </a:solidFill>
              </a:rPr>
              <a:t>Profit:</a:t>
            </a:r>
            <a:r>
              <a:rPr lang="en-IN" sz="1900" dirty="0">
                <a:solidFill>
                  <a:schemeClr val="tx1"/>
                </a:solidFill>
              </a:rPr>
              <a:t> Kharif highest; Zaid negative. </a:t>
            </a:r>
          </a:p>
          <a:p>
            <a:pPr marL="0" lvl="0" indent="0">
              <a:buNone/>
            </a:pPr>
            <a:r>
              <a:rPr lang="en-IN" sz="1900" b="1" dirty="0">
                <a:solidFill>
                  <a:schemeClr val="tx1"/>
                </a:solidFill>
              </a:rPr>
              <a:t>Water:</a:t>
            </a:r>
            <a:r>
              <a:rPr lang="en-IN" sz="1900" dirty="0">
                <a:solidFill>
                  <a:schemeClr val="tx1"/>
                </a:solidFill>
              </a:rPr>
              <a:t> Zaid uses the most. </a:t>
            </a:r>
          </a:p>
          <a:p>
            <a:pPr marL="0" lvl="0" indent="0">
              <a:buNone/>
            </a:pPr>
            <a:r>
              <a:rPr lang="en-IN" sz="1900" b="1" dirty="0">
                <a:solidFill>
                  <a:schemeClr val="tx1"/>
                </a:solidFill>
              </a:rPr>
              <a:t>Risk:</a:t>
            </a:r>
            <a:r>
              <a:rPr lang="en-IN" sz="1900" dirty="0">
                <a:solidFill>
                  <a:schemeClr val="tx1"/>
                </a:solidFill>
              </a:rPr>
              <a:t> Kharif has highest pest risk</a:t>
            </a:r>
            <a:r>
              <a:rPr lang="en-IN" dirty="0"/>
              <a:t>.</a:t>
            </a:r>
          </a:p>
          <a:p>
            <a:pPr marL="0" indent="0">
              <a:buNone/>
            </a:pPr>
            <a:endParaRPr lang="en-IN" dirty="0"/>
          </a:p>
        </p:txBody>
      </p:sp>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AAE43-B138-25CD-D01F-41DB388556C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FCF24DA-3CDC-4D87-9335-AB913C783F76}"/>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6D5AF756-BADB-9E87-14AC-F87A8C7463BF}"/>
              </a:ext>
            </a:extLst>
          </p:cNvPr>
          <p:cNvSpPr>
            <a:spLocks noGrp="1"/>
          </p:cNvSpPr>
          <p:nvPr>
            <p:ph type="title"/>
          </p:nvPr>
        </p:nvSpPr>
        <p:spPr>
          <a:xfrm>
            <a:off x="675957" y="370589"/>
            <a:ext cx="11028363" cy="830997"/>
          </a:xfrm>
        </p:spPr>
        <p:txBody>
          <a:bodyPr>
            <a:normAutofit/>
          </a:bodyPr>
          <a:lstStyle/>
          <a:p>
            <a:r>
              <a:rPr lang="en-GB" sz="4000" dirty="0"/>
              <a:t>RESULTS-</a:t>
            </a:r>
            <a:r>
              <a:rPr lang="en-IN" sz="4000" dirty="0"/>
              <a:t>Environmental &amp; Soil Conditions</a:t>
            </a:r>
            <a:r>
              <a:rPr lang="en-GB" sz="4000" dirty="0"/>
              <a:t> </a:t>
            </a:r>
            <a:endParaRPr lang="en-IN" sz="4000" dirty="0"/>
          </a:p>
        </p:txBody>
      </p:sp>
      <p:sp>
        <p:nvSpPr>
          <p:cNvPr id="7" name="Text Placeholder 30">
            <a:extLst>
              <a:ext uri="{FF2B5EF4-FFF2-40B4-BE49-F238E27FC236}">
                <a16:creationId xmlns:a16="http://schemas.microsoft.com/office/drawing/2014/main" id="{4716F3BA-AE41-9B35-3BCA-353F205375D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E149068-B429-662F-714A-0DD8CE171A51}"/>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2" name="Picture 1">
            <a:extLst>
              <a:ext uri="{FF2B5EF4-FFF2-40B4-BE49-F238E27FC236}">
                <a16:creationId xmlns:a16="http://schemas.microsoft.com/office/drawing/2014/main" id="{81DEB011-4779-1E3F-EB10-C9F95476B130}"/>
              </a:ext>
            </a:extLst>
          </p:cNvPr>
          <p:cNvPicPr>
            <a:picLocks noChangeAspect="1"/>
          </p:cNvPicPr>
          <p:nvPr/>
        </p:nvPicPr>
        <p:blipFill>
          <a:blip r:embed="rId3"/>
          <a:stretch>
            <a:fillRect/>
          </a:stretch>
        </p:blipFill>
        <p:spPr>
          <a:xfrm>
            <a:off x="3941565" y="1581529"/>
            <a:ext cx="7929453" cy="4986911"/>
          </a:xfrm>
          <a:prstGeom prst="rect">
            <a:avLst/>
          </a:prstGeom>
        </p:spPr>
      </p:pic>
      <p:sp>
        <p:nvSpPr>
          <p:cNvPr id="6" name="Text Placeholder 2">
            <a:extLst>
              <a:ext uri="{FF2B5EF4-FFF2-40B4-BE49-F238E27FC236}">
                <a16:creationId xmlns:a16="http://schemas.microsoft.com/office/drawing/2014/main" id="{8A56568A-1C6C-3758-697A-2331DE64825F}"/>
              </a:ext>
            </a:extLst>
          </p:cNvPr>
          <p:cNvSpPr>
            <a:spLocks noGrp="1"/>
          </p:cNvSpPr>
          <p:nvPr>
            <p:ph type="body" sz="quarter" idx="12"/>
          </p:nvPr>
        </p:nvSpPr>
        <p:spPr>
          <a:xfrm>
            <a:off x="458335" y="1877723"/>
            <a:ext cx="3281166" cy="3560763"/>
          </a:xfrm>
        </p:spPr>
        <p:txBody>
          <a:bodyPr>
            <a:normAutofit lnSpcReduction="10000"/>
          </a:bodyPr>
          <a:lstStyle/>
          <a:p>
            <a:pPr marL="0" lvl="0" indent="0">
              <a:buNone/>
            </a:pPr>
            <a:r>
              <a:rPr lang="en-IN" b="1" dirty="0">
                <a:solidFill>
                  <a:schemeClr val="tx1"/>
                </a:solidFill>
              </a:rPr>
              <a:t>Rainfall:</a:t>
            </a:r>
            <a:r>
              <a:rPr lang="en-IN" dirty="0">
                <a:solidFill>
                  <a:schemeClr val="tx1"/>
                </a:solidFill>
              </a:rPr>
              <a:t> Highest in Kharif. </a:t>
            </a:r>
          </a:p>
          <a:p>
            <a:pPr marL="0" lvl="0" indent="0">
              <a:buNone/>
            </a:pPr>
            <a:r>
              <a:rPr lang="en-IN" b="1" dirty="0">
                <a:solidFill>
                  <a:schemeClr val="tx1"/>
                </a:solidFill>
              </a:rPr>
              <a:t>Temperature:</a:t>
            </a:r>
            <a:r>
              <a:rPr lang="en-IN" dirty="0">
                <a:solidFill>
                  <a:schemeClr val="tx1"/>
                </a:solidFill>
              </a:rPr>
              <a:t> Highest in Zaid. </a:t>
            </a:r>
          </a:p>
          <a:p>
            <a:pPr marL="0" lvl="0" indent="0">
              <a:buNone/>
            </a:pPr>
            <a:r>
              <a:rPr lang="en-IN" b="1" dirty="0">
                <a:solidFill>
                  <a:schemeClr val="tx1"/>
                </a:solidFill>
              </a:rPr>
              <a:t>Humidity:</a:t>
            </a:r>
            <a:r>
              <a:rPr lang="en-IN" dirty="0">
                <a:solidFill>
                  <a:schemeClr val="tx1"/>
                </a:solidFill>
              </a:rPr>
              <a:t> Highest in Kharif. </a:t>
            </a:r>
          </a:p>
          <a:p>
            <a:pPr marL="0" lvl="0" indent="0">
              <a:buNone/>
            </a:pPr>
            <a:r>
              <a:rPr lang="en-IN" b="1" dirty="0">
                <a:solidFill>
                  <a:schemeClr val="tx1"/>
                </a:solidFill>
              </a:rPr>
              <a:t>Soil moisture:</a:t>
            </a:r>
            <a:r>
              <a:rPr lang="en-IN" dirty="0">
                <a:solidFill>
                  <a:schemeClr val="tx1"/>
                </a:solidFill>
              </a:rPr>
              <a:t> Highest in Kharif. </a:t>
            </a:r>
          </a:p>
          <a:p>
            <a:pPr marL="0" lvl="0" indent="0">
              <a:buNone/>
            </a:pPr>
            <a:r>
              <a:rPr lang="en-IN" b="1" dirty="0">
                <a:solidFill>
                  <a:schemeClr val="tx1"/>
                </a:solidFill>
              </a:rPr>
              <a:t>Sunlight:</a:t>
            </a:r>
            <a:r>
              <a:rPr lang="en-IN" dirty="0">
                <a:solidFill>
                  <a:schemeClr val="tx1"/>
                </a:solidFill>
              </a:rPr>
              <a:t> Highest in Zaid. </a:t>
            </a:r>
          </a:p>
          <a:p>
            <a:pPr marL="0" lvl="0" indent="0">
              <a:buNone/>
            </a:pPr>
            <a:r>
              <a:rPr lang="en-IN" b="1" dirty="0">
                <a:solidFill>
                  <a:schemeClr val="tx1"/>
                </a:solidFill>
              </a:rPr>
              <a:t>Nutrients:</a:t>
            </a:r>
            <a:r>
              <a:rPr lang="en-IN" dirty="0">
                <a:solidFill>
                  <a:schemeClr val="tx1"/>
                </a:solidFill>
              </a:rPr>
              <a:t> Mostly stable across seasons.</a:t>
            </a:r>
          </a:p>
          <a:p>
            <a:pPr marL="0" indent="0">
              <a:buNone/>
            </a:pPr>
            <a:endParaRPr lang="en-IN" dirty="0"/>
          </a:p>
        </p:txBody>
      </p:sp>
    </p:spTree>
    <p:extLst>
      <p:ext uri="{BB962C8B-B14F-4D97-AF65-F5344CB8AC3E}">
        <p14:creationId xmlns:p14="http://schemas.microsoft.com/office/powerpoint/2010/main" val="3849627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9E943-C59C-1D86-29CA-F786C47BABA8}"/>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BEC6E6C7-69F2-D361-F3CC-FC5268D9BC8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DFCD5524-F764-DC63-6F54-D48057CF17B7}"/>
              </a:ext>
            </a:extLst>
          </p:cNvPr>
          <p:cNvSpPr>
            <a:spLocks noGrp="1"/>
          </p:cNvSpPr>
          <p:nvPr>
            <p:ph type="title"/>
          </p:nvPr>
        </p:nvSpPr>
        <p:spPr>
          <a:xfrm>
            <a:off x="675957" y="370589"/>
            <a:ext cx="10917045" cy="830997"/>
          </a:xfrm>
        </p:spPr>
        <p:txBody>
          <a:bodyPr>
            <a:normAutofit/>
          </a:bodyPr>
          <a:lstStyle/>
          <a:p>
            <a:r>
              <a:rPr lang="en-GB" sz="4000" dirty="0"/>
              <a:t>RESULTS-</a:t>
            </a:r>
            <a:r>
              <a:rPr lang="en-IN" sz="4000" dirty="0"/>
              <a:t>Environmental Factors vs Yield</a:t>
            </a:r>
            <a:r>
              <a:rPr lang="en-GB" sz="4000" dirty="0"/>
              <a:t> </a:t>
            </a:r>
            <a:endParaRPr lang="en-IN" sz="4000" dirty="0"/>
          </a:p>
        </p:txBody>
      </p:sp>
      <p:sp>
        <p:nvSpPr>
          <p:cNvPr id="7" name="Text Placeholder 30">
            <a:extLst>
              <a:ext uri="{FF2B5EF4-FFF2-40B4-BE49-F238E27FC236}">
                <a16:creationId xmlns:a16="http://schemas.microsoft.com/office/drawing/2014/main" id="{4B1E3463-DEAD-53DD-2AC0-E8A458421D0B}"/>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B713140B-3822-90E0-F216-B77A695B86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6" name="Picture 5">
            <a:extLst>
              <a:ext uri="{FF2B5EF4-FFF2-40B4-BE49-F238E27FC236}">
                <a16:creationId xmlns:a16="http://schemas.microsoft.com/office/drawing/2014/main" id="{1A1B5E63-A4F0-B345-FEDF-427060C84CE7}"/>
              </a:ext>
            </a:extLst>
          </p:cNvPr>
          <p:cNvPicPr>
            <a:picLocks noChangeAspect="1"/>
          </p:cNvPicPr>
          <p:nvPr/>
        </p:nvPicPr>
        <p:blipFill>
          <a:blip r:embed="rId3"/>
          <a:stretch>
            <a:fillRect/>
          </a:stretch>
        </p:blipFill>
        <p:spPr>
          <a:xfrm>
            <a:off x="3816626" y="1275371"/>
            <a:ext cx="7572014" cy="5200816"/>
          </a:xfrm>
          <a:prstGeom prst="rect">
            <a:avLst/>
          </a:prstGeom>
        </p:spPr>
      </p:pic>
      <p:sp>
        <p:nvSpPr>
          <p:cNvPr id="11" name="Text Placeholder 2">
            <a:extLst>
              <a:ext uri="{FF2B5EF4-FFF2-40B4-BE49-F238E27FC236}">
                <a16:creationId xmlns:a16="http://schemas.microsoft.com/office/drawing/2014/main" id="{5791B5A4-4724-3C4B-AE04-25F730876DD4}"/>
              </a:ext>
            </a:extLst>
          </p:cNvPr>
          <p:cNvSpPr>
            <a:spLocks noGrp="1"/>
          </p:cNvSpPr>
          <p:nvPr>
            <p:ph type="body" sz="quarter" idx="12"/>
          </p:nvPr>
        </p:nvSpPr>
        <p:spPr>
          <a:xfrm>
            <a:off x="414477" y="1968857"/>
            <a:ext cx="3402149" cy="3661791"/>
          </a:xfrm>
        </p:spPr>
        <p:txBody>
          <a:bodyPr>
            <a:normAutofit/>
          </a:bodyPr>
          <a:lstStyle/>
          <a:p>
            <a:pPr marL="0" lvl="0" indent="0">
              <a:buNone/>
            </a:pPr>
            <a:r>
              <a:rPr lang="en-IN" b="1" dirty="0">
                <a:solidFill>
                  <a:schemeClr val="tx1"/>
                </a:solidFill>
              </a:rPr>
              <a:t>Rainfall:</a:t>
            </a:r>
            <a:r>
              <a:rPr lang="en-IN" dirty="0">
                <a:solidFill>
                  <a:schemeClr val="tx1"/>
                </a:solidFill>
              </a:rPr>
              <a:t> Very weak relationship with yield. </a:t>
            </a:r>
          </a:p>
          <a:p>
            <a:pPr marL="0" lvl="0" indent="0">
              <a:buNone/>
            </a:pPr>
            <a:r>
              <a:rPr lang="en-IN" b="1" dirty="0">
                <a:solidFill>
                  <a:schemeClr val="tx1"/>
                </a:solidFill>
              </a:rPr>
              <a:t>Temperature:</a:t>
            </a:r>
            <a:r>
              <a:rPr lang="en-IN" dirty="0">
                <a:solidFill>
                  <a:schemeClr val="tx1"/>
                </a:solidFill>
              </a:rPr>
              <a:t> Very weak relationship with yield. </a:t>
            </a:r>
          </a:p>
          <a:p>
            <a:pPr marL="0" lvl="0" indent="0">
              <a:buNone/>
            </a:pPr>
            <a:r>
              <a:rPr lang="en-IN" b="1" dirty="0">
                <a:solidFill>
                  <a:schemeClr val="tx1"/>
                </a:solidFill>
              </a:rPr>
              <a:t>Soil moisture:</a:t>
            </a:r>
            <a:r>
              <a:rPr lang="en-IN" dirty="0">
                <a:solidFill>
                  <a:schemeClr val="tx1"/>
                </a:solidFill>
              </a:rPr>
              <a:t> No meaningful linear relationship. </a:t>
            </a:r>
          </a:p>
          <a:p>
            <a:pPr marL="0" lvl="0" indent="0">
              <a:buNone/>
            </a:pPr>
            <a:r>
              <a:rPr lang="en-IN" b="1" dirty="0">
                <a:solidFill>
                  <a:schemeClr val="tx1"/>
                </a:solidFill>
              </a:rPr>
              <a:t>Sunlight:</a:t>
            </a:r>
            <a:r>
              <a:rPr lang="en-IN" dirty="0">
                <a:solidFill>
                  <a:schemeClr val="tx1"/>
                </a:solidFill>
              </a:rPr>
              <a:t> Very weak relationship with yield.</a:t>
            </a:r>
          </a:p>
          <a:p>
            <a:pPr marL="0" indent="0">
              <a:buNone/>
            </a:pPr>
            <a:endParaRPr lang="en-IN" dirty="0"/>
          </a:p>
        </p:txBody>
      </p:sp>
    </p:spTree>
    <p:extLst>
      <p:ext uri="{BB962C8B-B14F-4D97-AF65-F5344CB8AC3E}">
        <p14:creationId xmlns:p14="http://schemas.microsoft.com/office/powerpoint/2010/main" val="1698901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5AC1B-54F8-474D-6B86-CF23FDF34B0B}"/>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E9D7CE81-8696-30A4-F33E-B4B569D35025}"/>
              </a:ext>
            </a:extLst>
          </p:cNvPr>
          <p:cNvPicPr>
            <a:picLocks noChangeAspect="1"/>
          </p:cNvPicPr>
          <p:nvPr/>
        </p:nvPicPr>
        <p:blipFill rotWithShape="1">
          <a:blip r:embed="rId2"/>
          <a:srcRect t="96181"/>
          <a:stretch/>
        </p:blipFill>
        <p:spPr>
          <a:xfrm>
            <a:off x="660399" y="6297856"/>
            <a:ext cx="2143125" cy="193040"/>
          </a:xfrm>
          <a:prstGeom prst="rect">
            <a:avLst/>
          </a:prstGeom>
        </p:spPr>
      </p:pic>
      <p:sp>
        <p:nvSpPr>
          <p:cNvPr id="4" name="Title 3">
            <a:extLst>
              <a:ext uri="{FF2B5EF4-FFF2-40B4-BE49-F238E27FC236}">
                <a16:creationId xmlns:a16="http://schemas.microsoft.com/office/drawing/2014/main" id="{15FD49EE-0956-AAE3-737B-15F7D4267C1A}"/>
              </a:ext>
            </a:extLst>
          </p:cNvPr>
          <p:cNvSpPr>
            <a:spLocks noGrp="1"/>
          </p:cNvSpPr>
          <p:nvPr>
            <p:ph type="title"/>
          </p:nvPr>
        </p:nvSpPr>
        <p:spPr>
          <a:xfrm>
            <a:off x="119270" y="370589"/>
            <a:ext cx="12356327" cy="830997"/>
          </a:xfrm>
        </p:spPr>
        <p:txBody>
          <a:bodyPr>
            <a:normAutofit fontScale="90000"/>
          </a:bodyPr>
          <a:lstStyle/>
          <a:p>
            <a:r>
              <a:rPr lang="en-GB" sz="4400" dirty="0"/>
              <a:t>RESULTS-</a:t>
            </a:r>
            <a:r>
              <a:rPr lang="en-IN" sz="4400" dirty="0"/>
              <a:t>Season-wise Environmental Correlation</a:t>
            </a:r>
          </a:p>
        </p:txBody>
      </p:sp>
      <p:sp>
        <p:nvSpPr>
          <p:cNvPr id="7" name="Text Placeholder 30">
            <a:extLst>
              <a:ext uri="{FF2B5EF4-FFF2-40B4-BE49-F238E27FC236}">
                <a16:creationId xmlns:a16="http://schemas.microsoft.com/office/drawing/2014/main" id="{D224F8B1-34DD-5A54-7F70-25EBA532E6E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5A36120-3EFF-6A69-8D23-42BFD883ADDA}"/>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DAB83527-B788-D6A7-3103-BBB91FCFC691}"/>
              </a:ext>
            </a:extLst>
          </p:cNvPr>
          <p:cNvSpPr>
            <a:spLocks noGrp="1"/>
          </p:cNvSpPr>
          <p:nvPr>
            <p:ph type="body" sz="quarter" idx="12"/>
          </p:nvPr>
        </p:nvSpPr>
        <p:spPr>
          <a:xfrm>
            <a:off x="660399" y="2116262"/>
            <a:ext cx="3343561" cy="3560763"/>
          </a:xfrm>
        </p:spPr>
        <p:txBody>
          <a:bodyPr>
            <a:normAutofit/>
          </a:bodyPr>
          <a:lstStyle/>
          <a:p>
            <a:pPr marL="0" lvl="0" indent="0">
              <a:buNone/>
            </a:pPr>
            <a:r>
              <a:rPr lang="en-IN" b="1" dirty="0">
                <a:solidFill>
                  <a:schemeClr val="tx1"/>
                </a:solidFill>
              </a:rPr>
              <a:t>Kharif:</a:t>
            </a:r>
            <a:r>
              <a:rPr lang="en-IN" dirty="0">
                <a:solidFill>
                  <a:schemeClr val="tx1"/>
                </a:solidFill>
              </a:rPr>
              <a:t> Negligible correlations with yield. </a:t>
            </a:r>
          </a:p>
          <a:p>
            <a:pPr marL="0" lvl="0" indent="0">
              <a:buNone/>
            </a:pPr>
            <a:r>
              <a:rPr lang="en-IN" b="1" dirty="0">
                <a:solidFill>
                  <a:schemeClr val="tx1"/>
                </a:solidFill>
              </a:rPr>
              <a:t>Rabi:</a:t>
            </a:r>
            <a:r>
              <a:rPr lang="en-IN" dirty="0">
                <a:solidFill>
                  <a:schemeClr val="tx1"/>
                </a:solidFill>
              </a:rPr>
              <a:t> Very weak correlations with yield. </a:t>
            </a:r>
          </a:p>
          <a:p>
            <a:pPr marL="0" lvl="0" indent="0">
              <a:buNone/>
            </a:pPr>
            <a:r>
              <a:rPr lang="en-IN" b="1" dirty="0">
                <a:solidFill>
                  <a:schemeClr val="tx1"/>
                </a:solidFill>
              </a:rPr>
              <a:t>Zaid:</a:t>
            </a:r>
            <a:r>
              <a:rPr lang="en-IN" dirty="0">
                <a:solidFill>
                  <a:schemeClr val="tx1"/>
                </a:solidFill>
              </a:rPr>
              <a:t> Very weak correlations with yield. </a:t>
            </a:r>
          </a:p>
          <a:p>
            <a:pPr marL="0" lvl="0" indent="0">
              <a:buNone/>
            </a:pPr>
            <a:r>
              <a:rPr lang="en-IN" b="1" dirty="0">
                <a:solidFill>
                  <a:schemeClr val="tx1"/>
                </a:solidFill>
              </a:rPr>
              <a:t>Overall:</a:t>
            </a:r>
            <a:r>
              <a:rPr lang="en-IN" dirty="0">
                <a:solidFill>
                  <a:schemeClr val="tx1"/>
                </a:solidFill>
              </a:rPr>
              <a:t> Environment alone does not explain yield variation.</a:t>
            </a:r>
          </a:p>
          <a:p>
            <a:pPr marL="0" indent="0">
              <a:buNone/>
            </a:pPr>
            <a:endParaRPr lang="en-IN" dirty="0"/>
          </a:p>
        </p:txBody>
      </p:sp>
      <p:pic>
        <p:nvPicPr>
          <p:cNvPr id="6" name="Picture 5">
            <a:extLst>
              <a:ext uri="{FF2B5EF4-FFF2-40B4-BE49-F238E27FC236}">
                <a16:creationId xmlns:a16="http://schemas.microsoft.com/office/drawing/2014/main" id="{BCFB8A37-6BE8-1F44-6A79-FF6FF6FD5ED4}"/>
              </a:ext>
            </a:extLst>
          </p:cNvPr>
          <p:cNvPicPr>
            <a:picLocks noChangeAspect="1"/>
          </p:cNvPicPr>
          <p:nvPr/>
        </p:nvPicPr>
        <p:blipFill>
          <a:blip r:embed="rId3"/>
          <a:stretch>
            <a:fillRect/>
          </a:stretch>
        </p:blipFill>
        <p:spPr>
          <a:xfrm>
            <a:off x="4121750" y="1608410"/>
            <a:ext cx="7635255" cy="4689446"/>
          </a:xfrm>
          <a:prstGeom prst="rect">
            <a:avLst/>
          </a:prstGeom>
        </p:spPr>
      </p:pic>
    </p:spTree>
    <p:extLst>
      <p:ext uri="{BB962C8B-B14F-4D97-AF65-F5344CB8AC3E}">
        <p14:creationId xmlns:p14="http://schemas.microsoft.com/office/powerpoint/2010/main" val="19039798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030C45-6A74-29AD-A5C0-D5F36592DB69}"/>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9E7611FF-D6E5-400F-ED75-6F5531CFA95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9E35150-35BD-1B1F-9A8C-890DBFDF3B54}"/>
              </a:ext>
            </a:extLst>
          </p:cNvPr>
          <p:cNvSpPr>
            <a:spLocks noGrp="1"/>
          </p:cNvSpPr>
          <p:nvPr>
            <p:ph type="title"/>
          </p:nvPr>
        </p:nvSpPr>
        <p:spPr>
          <a:xfrm>
            <a:off x="71563" y="370589"/>
            <a:ext cx="12245008" cy="830997"/>
          </a:xfrm>
        </p:spPr>
        <p:txBody>
          <a:bodyPr>
            <a:normAutofit fontScale="90000"/>
          </a:bodyPr>
          <a:lstStyle/>
          <a:p>
            <a:r>
              <a:rPr lang="en-GB" sz="4400" dirty="0"/>
              <a:t>RESULTS-</a:t>
            </a:r>
            <a:r>
              <a:rPr lang="en-IN" sz="4400" dirty="0"/>
              <a:t>Economic Performance Across</a:t>
            </a:r>
            <a:r>
              <a:rPr lang="en-IN" dirty="0"/>
              <a:t> </a:t>
            </a:r>
            <a:r>
              <a:rPr lang="en-IN" sz="4400" dirty="0"/>
              <a:t>Seasons</a:t>
            </a:r>
          </a:p>
        </p:txBody>
      </p:sp>
      <p:sp>
        <p:nvSpPr>
          <p:cNvPr id="7" name="Text Placeholder 30">
            <a:extLst>
              <a:ext uri="{FF2B5EF4-FFF2-40B4-BE49-F238E27FC236}">
                <a16:creationId xmlns:a16="http://schemas.microsoft.com/office/drawing/2014/main" id="{5A2A9BCE-A757-223C-2A3D-44341FB27A61}"/>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1EED58A7-2CD5-1355-8D1D-DD62A1ED8CB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 Placeholder 2">
            <a:extLst>
              <a:ext uri="{FF2B5EF4-FFF2-40B4-BE49-F238E27FC236}">
                <a16:creationId xmlns:a16="http://schemas.microsoft.com/office/drawing/2014/main" id="{F52DCBE8-AE59-BB28-7175-2589D8868AA0}"/>
              </a:ext>
            </a:extLst>
          </p:cNvPr>
          <p:cNvSpPr>
            <a:spLocks noGrp="1"/>
          </p:cNvSpPr>
          <p:nvPr>
            <p:ph type="body" sz="quarter" idx="12"/>
          </p:nvPr>
        </p:nvSpPr>
        <p:spPr>
          <a:xfrm>
            <a:off x="460148" y="2055986"/>
            <a:ext cx="3065227" cy="3466562"/>
          </a:xfrm>
        </p:spPr>
        <p:txBody>
          <a:bodyPr/>
          <a:lstStyle/>
          <a:p>
            <a:pPr marL="0" lvl="0" indent="0">
              <a:buNone/>
            </a:pPr>
            <a:r>
              <a:rPr lang="en-IN" sz="1900" b="1" dirty="0">
                <a:solidFill>
                  <a:schemeClr val="tx1"/>
                </a:solidFill>
              </a:rPr>
              <a:t>Revenue:</a:t>
            </a:r>
            <a:r>
              <a:rPr lang="en-IN" sz="1900" dirty="0">
                <a:solidFill>
                  <a:schemeClr val="tx1"/>
                </a:solidFill>
              </a:rPr>
              <a:t> Highest in Kharif. </a:t>
            </a:r>
          </a:p>
          <a:p>
            <a:pPr marL="0" lvl="0" indent="0">
              <a:buNone/>
            </a:pPr>
            <a:r>
              <a:rPr lang="en-IN" sz="1900" b="1" dirty="0">
                <a:solidFill>
                  <a:schemeClr val="tx1"/>
                </a:solidFill>
              </a:rPr>
              <a:t>Cost:</a:t>
            </a:r>
            <a:r>
              <a:rPr lang="en-IN" sz="1900" dirty="0">
                <a:solidFill>
                  <a:schemeClr val="tx1"/>
                </a:solidFill>
              </a:rPr>
              <a:t> Highest in Zaid. </a:t>
            </a:r>
          </a:p>
          <a:p>
            <a:pPr marL="0" lvl="0" indent="0">
              <a:buNone/>
            </a:pPr>
            <a:r>
              <a:rPr lang="en-IN" sz="1900" b="1" dirty="0">
                <a:solidFill>
                  <a:schemeClr val="tx1"/>
                </a:solidFill>
              </a:rPr>
              <a:t>Profit:</a:t>
            </a:r>
            <a:r>
              <a:rPr lang="en-IN" sz="1900" dirty="0">
                <a:solidFill>
                  <a:schemeClr val="tx1"/>
                </a:solidFill>
              </a:rPr>
              <a:t> Kharif highest; Zaid negative. </a:t>
            </a:r>
          </a:p>
          <a:p>
            <a:pPr marL="0" lvl="0" indent="0">
              <a:buNone/>
            </a:pPr>
            <a:r>
              <a:rPr lang="en-IN" sz="1900" b="1" dirty="0">
                <a:solidFill>
                  <a:schemeClr val="tx1"/>
                </a:solidFill>
              </a:rPr>
              <a:t>Overall:</a:t>
            </a:r>
            <a:r>
              <a:rPr lang="en-IN" sz="1900" dirty="0">
                <a:solidFill>
                  <a:schemeClr val="tx1"/>
                </a:solidFill>
              </a:rPr>
              <a:t> Kharif is most profitable.</a:t>
            </a:r>
          </a:p>
          <a:p>
            <a:endParaRPr lang="en-IN" dirty="0"/>
          </a:p>
        </p:txBody>
      </p:sp>
      <p:pic>
        <p:nvPicPr>
          <p:cNvPr id="6" name="Picture 5">
            <a:extLst>
              <a:ext uri="{FF2B5EF4-FFF2-40B4-BE49-F238E27FC236}">
                <a16:creationId xmlns:a16="http://schemas.microsoft.com/office/drawing/2014/main" id="{B9D2A4B3-E0B4-396F-E94A-3F3146AC901E}"/>
              </a:ext>
            </a:extLst>
          </p:cNvPr>
          <p:cNvPicPr>
            <a:picLocks noChangeAspect="1"/>
          </p:cNvPicPr>
          <p:nvPr/>
        </p:nvPicPr>
        <p:blipFill>
          <a:blip r:embed="rId3"/>
          <a:stretch>
            <a:fillRect/>
          </a:stretch>
        </p:blipFill>
        <p:spPr>
          <a:xfrm>
            <a:off x="3482671" y="1201587"/>
            <a:ext cx="8048929" cy="5175360"/>
          </a:xfrm>
          <a:prstGeom prst="rect">
            <a:avLst/>
          </a:prstGeom>
        </p:spPr>
      </p:pic>
    </p:spTree>
    <p:extLst>
      <p:ext uri="{BB962C8B-B14F-4D97-AF65-F5344CB8AC3E}">
        <p14:creationId xmlns:p14="http://schemas.microsoft.com/office/powerpoint/2010/main" val="1421522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6E94ED-1743-306E-1CA1-9410A2B50996}"/>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04506C61-5206-F1DF-9994-DED24DFB1C65}"/>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B097C2C-D75A-31D4-CD9F-366F39CDE51D}"/>
              </a:ext>
            </a:extLst>
          </p:cNvPr>
          <p:cNvSpPr>
            <a:spLocks noGrp="1"/>
          </p:cNvSpPr>
          <p:nvPr>
            <p:ph type="title"/>
          </p:nvPr>
        </p:nvSpPr>
        <p:spPr>
          <a:xfrm>
            <a:off x="675957" y="370589"/>
            <a:ext cx="4735798" cy="830997"/>
          </a:xfrm>
        </p:spPr>
        <p:txBody>
          <a:bodyPr>
            <a:normAutofit/>
          </a:bodyPr>
          <a:lstStyle/>
          <a:p>
            <a:r>
              <a:rPr lang="en-IN" sz="4000" dirty="0"/>
              <a:t>Future scope</a:t>
            </a:r>
          </a:p>
        </p:txBody>
      </p:sp>
      <p:sp>
        <p:nvSpPr>
          <p:cNvPr id="7" name="Text Placeholder 30">
            <a:extLst>
              <a:ext uri="{FF2B5EF4-FFF2-40B4-BE49-F238E27FC236}">
                <a16:creationId xmlns:a16="http://schemas.microsoft.com/office/drawing/2014/main" id="{B7444DDE-63A3-9721-77CC-C93FED110DAF}"/>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2C8A8B73-0C64-E012-F561-D7FE5E322230}"/>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ext Placeholder 8">
            <a:extLst>
              <a:ext uri="{FF2B5EF4-FFF2-40B4-BE49-F238E27FC236}">
                <a16:creationId xmlns:a16="http://schemas.microsoft.com/office/drawing/2014/main" id="{E6EB18FD-3A4E-67D6-CC4E-0CD953625550}"/>
              </a:ext>
            </a:extLst>
          </p:cNvPr>
          <p:cNvSpPr>
            <a:spLocks noGrp="1"/>
          </p:cNvSpPr>
          <p:nvPr>
            <p:ph type="body" sz="quarter" idx="12"/>
          </p:nvPr>
        </p:nvSpPr>
        <p:spPr>
          <a:xfrm>
            <a:off x="525227" y="1766404"/>
            <a:ext cx="6050501" cy="4189123"/>
          </a:xfrm>
        </p:spPr>
        <p:txBody>
          <a:bodyPr>
            <a:normAutofit fontScale="92500" lnSpcReduction="10000"/>
          </a:bodyPr>
          <a:lstStyle/>
          <a:p>
            <a:r>
              <a:rPr lang="en-US" dirty="0">
                <a:solidFill>
                  <a:schemeClr val="tx1"/>
                </a:solidFill>
              </a:rPr>
              <a:t>Predictive Modeling — Predict season yield and profitability.</a:t>
            </a:r>
          </a:p>
          <a:p>
            <a:r>
              <a:rPr lang="en-US" dirty="0">
                <a:solidFill>
                  <a:schemeClr val="tx1"/>
                </a:solidFill>
              </a:rPr>
              <a:t>Crop Recommendation — Recommend crops for each area and time of year.</a:t>
            </a:r>
          </a:p>
          <a:p>
            <a:r>
              <a:rPr lang="en-US" dirty="0">
                <a:solidFill>
                  <a:schemeClr val="tx1"/>
                </a:solidFill>
              </a:rPr>
              <a:t>Real-time data — Connect real-time weather and soil data.</a:t>
            </a:r>
          </a:p>
          <a:p>
            <a:r>
              <a:rPr lang="en-US" dirty="0">
                <a:solidFill>
                  <a:schemeClr val="tx1"/>
                </a:solidFill>
              </a:rPr>
              <a:t>Smart Resource Planning — Optimize water, fertilizer and pesticide use.</a:t>
            </a:r>
          </a:p>
          <a:p>
            <a:r>
              <a:rPr lang="en-US" dirty="0">
                <a:solidFill>
                  <a:schemeClr val="tx1"/>
                </a:solidFill>
              </a:rPr>
              <a:t>Early Risk Detection - Forecast disease and pest risks.</a:t>
            </a:r>
          </a:p>
          <a:p>
            <a:r>
              <a:rPr lang="en-US" dirty="0">
                <a:solidFill>
                  <a:schemeClr val="tx1"/>
                </a:solidFill>
              </a:rPr>
              <a:t>DSS — Build farmer-friendly dashboard for actionable insights.</a:t>
            </a:r>
            <a:endParaRPr lang="en-IN" dirty="0">
              <a:solidFill>
                <a:schemeClr val="tx1"/>
              </a:solidFill>
            </a:endParaRPr>
          </a:p>
        </p:txBody>
      </p:sp>
    </p:spTree>
    <p:extLst>
      <p:ext uri="{BB962C8B-B14F-4D97-AF65-F5344CB8AC3E}">
        <p14:creationId xmlns:p14="http://schemas.microsoft.com/office/powerpoint/2010/main" val="776828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7316CE-193E-3D5D-C15A-98517303A13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3D44118A-0276-9E2F-E0E8-85CEE9F1E0C7}"/>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901A2257-2F98-CB88-038E-C0F1D0A1A363}"/>
              </a:ext>
            </a:extLst>
          </p:cNvPr>
          <p:cNvSpPr>
            <a:spLocks noGrp="1"/>
          </p:cNvSpPr>
          <p:nvPr>
            <p:ph type="title"/>
          </p:nvPr>
        </p:nvSpPr>
        <p:spPr>
          <a:xfrm>
            <a:off x="675957" y="370589"/>
            <a:ext cx="4735798" cy="830997"/>
          </a:xfrm>
        </p:spPr>
        <p:txBody>
          <a:bodyPr>
            <a:normAutofit/>
          </a:bodyPr>
          <a:lstStyle/>
          <a:p>
            <a:r>
              <a:rPr lang="en-IN" sz="4000" dirty="0"/>
              <a:t>GitHub Link</a:t>
            </a:r>
          </a:p>
        </p:txBody>
      </p:sp>
      <p:sp>
        <p:nvSpPr>
          <p:cNvPr id="7" name="Text Placeholder 30">
            <a:extLst>
              <a:ext uri="{FF2B5EF4-FFF2-40B4-BE49-F238E27FC236}">
                <a16:creationId xmlns:a16="http://schemas.microsoft.com/office/drawing/2014/main" id="{AF1C8809-654A-4DD1-BB18-87B8B6C020B9}"/>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0F7D0B46-DEEA-1B5E-FE84-59D11F3B1105}"/>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3" name="TextBox 2">
            <a:extLst>
              <a:ext uri="{FF2B5EF4-FFF2-40B4-BE49-F238E27FC236}">
                <a16:creationId xmlns:a16="http://schemas.microsoft.com/office/drawing/2014/main" id="{5F0B37E4-66B1-8633-7266-68B321742757}"/>
              </a:ext>
            </a:extLst>
          </p:cNvPr>
          <p:cNvSpPr txBox="1"/>
          <p:nvPr/>
        </p:nvSpPr>
        <p:spPr>
          <a:xfrm>
            <a:off x="883143" y="2731416"/>
            <a:ext cx="7232875" cy="369332"/>
          </a:xfrm>
          <a:prstGeom prst="rect">
            <a:avLst/>
          </a:prstGeom>
          <a:noFill/>
        </p:spPr>
        <p:txBody>
          <a:bodyPr wrap="square">
            <a:spAutoFit/>
          </a:bodyPr>
          <a:lstStyle/>
          <a:p>
            <a:r>
              <a:rPr lang="en-IN" dirty="0">
                <a:hlinkClick r:id="rId3"/>
              </a:rPr>
              <a:t>🔗 View Project on GitHub</a:t>
            </a:r>
            <a:endParaRPr lang="en-US" dirty="0"/>
          </a:p>
        </p:txBody>
      </p:sp>
      <p:sp>
        <p:nvSpPr>
          <p:cNvPr id="2" name="TextBox 1">
            <a:extLst>
              <a:ext uri="{FF2B5EF4-FFF2-40B4-BE49-F238E27FC236}">
                <a16:creationId xmlns:a16="http://schemas.microsoft.com/office/drawing/2014/main" id="{817F23D7-28D9-4545-DDCC-39118CE87BE1}"/>
              </a:ext>
            </a:extLst>
          </p:cNvPr>
          <p:cNvSpPr txBox="1"/>
          <p:nvPr/>
        </p:nvSpPr>
        <p:spPr>
          <a:xfrm>
            <a:off x="729256" y="3471279"/>
            <a:ext cx="7386762" cy="646331"/>
          </a:xfrm>
          <a:prstGeom prst="rect">
            <a:avLst/>
          </a:prstGeom>
          <a:noFill/>
        </p:spPr>
        <p:txBody>
          <a:bodyPr wrap="square" rtlCol="0">
            <a:spAutoFit/>
          </a:bodyPr>
          <a:lstStyle/>
          <a:p>
            <a:r>
              <a:rPr lang="en-IN" dirty="0"/>
              <a:t>https://github.com/BhumikaBindagi06/seasonal-agriculture-performance-analysis.git</a:t>
            </a:r>
          </a:p>
        </p:txBody>
      </p:sp>
    </p:spTree>
    <p:extLst>
      <p:ext uri="{BB962C8B-B14F-4D97-AF65-F5344CB8AC3E}">
        <p14:creationId xmlns:p14="http://schemas.microsoft.com/office/powerpoint/2010/main" val="386361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866297-EA5A-44FA-6968-26D32B9B1EAC}"/>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5B12FC48-BC6E-8635-A49E-73EF17CEDC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42B692F6-18B4-BC16-EA0C-48FFBD5621DF}"/>
              </a:ext>
            </a:extLst>
          </p:cNvPr>
          <p:cNvSpPr>
            <a:spLocks noGrp="1"/>
          </p:cNvSpPr>
          <p:nvPr>
            <p:ph type="title"/>
          </p:nvPr>
        </p:nvSpPr>
        <p:spPr>
          <a:xfrm>
            <a:off x="675957" y="370589"/>
            <a:ext cx="8351388" cy="884658"/>
          </a:xfrm>
        </p:spPr>
        <p:txBody>
          <a:bodyPr>
            <a:normAutofit fontScale="90000"/>
          </a:bodyPr>
          <a:lstStyle/>
          <a:p>
            <a:r>
              <a:rPr lang="en-IN" sz="3200" dirty="0"/>
              <a:t>VOIS Course completion certificate - </a:t>
            </a:r>
            <a:br>
              <a:rPr lang="en-IN" sz="3200" dirty="0"/>
            </a:br>
            <a:r>
              <a:rPr lang="en-IN" sz="3200" dirty="0"/>
              <a:t>Course name- Data Visualization </a:t>
            </a:r>
          </a:p>
        </p:txBody>
      </p:sp>
      <p:sp>
        <p:nvSpPr>
          <p:cNvPr id="7" name="Text Placeholder 30">
            <a:extLst>
              <a:ext uri="{FF2B5EF4-FFF2-40B4-BE49-F238E27FC236}">
                <a16:creationId xmlns:a16="http://schemas.microsoft.com/office/drawing/2014/main" id="{069BD300-7A70-B076-3B4C-43081E893162}"/>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8" name="Text Placeholder 30">
            <a:extLst>
              <a:ext uri="{FF2B5EF4-FFF2-40B4-BE49-F238E27FC236}">
                <a16:creationId xmlns:a16="http://schemas.microsoft.com/office/drawing/2014/main" id="{8C1854F2-9914-C22F-FF0B-693CD1D0F966}"/>
              </a:ext>
            </a:extLst>
          </p:cNvPr>
          <p:cNvSpPr txBox="1">
            <a:spLocks/>
          </p:cNvSpPr>
          <p:nvPr/>
        </p:nvSpPr>
        <p:spPr>
          <a:xfrm>
            <a:off x="4345694"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pic>
        <p:nvPicPr>
          <p:cNvPr id="3" name="Picture 2">
            <a:extLst>
              <a:ext uri="{FF2B5EF4-FFF2-40B4-BE49-F238E27FC236}">
                <a16:creationId xmlns:a16="http://schemas.microsoft.com/office/drawing/2014/main" id="{D1D0D796-3B40-C72A-A4AE-98C37ADC5AC3}"/>
              </a:ext>
            </a:extLst>
          </p:cNvPr>
          <p:cNvPicPr>
            <a:picLocks noChangeAspect="1"/>
          </p:cNvPicPr>
          <p:nvPr/>
        </p:nvPicPr>
        <p:blipFill>
          <a:blip r:embed="rId3"/>
          <a:stretch>
            <a:fillRect/>
          </a:stretch>
        </p:blipFill>
        <p:spPr>
          <a:xfrm>
            <a:off x="1992762" y="1463040"/>
            <a:ext cx="7871790" cy="5257579"/>
          </a:xfrm>
          <a:prstGeom prst="rect">
            <a:avLst/>
          </a:prstGeom>
        </p:spPr>
      </p:pic>
    </p:spTree>
    <p:extLst>
      <p:ext uri="{BB962C8B-B14F-4D97-AF65-F5344CB8AC3E}">
        <p14:creationId xmlns:p14="http://schemas.microsoft.com/office/powerpoint/2010/main" val="39628022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nodePh="1">
                                  <p:stCondLst>
                                    <p:cond delay="0"/>
                                  </p:stCondLst>
                                  <p:endCondLst>
                                    <p:cond evt="begin" delay="0">
                                      <p:tn val="19"/>
                                    </p:cond>
                                  </p:end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197560" y="2493056"/>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1413</TotalTime>
  <Words>637</Words>
  <Application>Microsoft Office PowerPoint</Application>
  <PresentationFormat>Widescreen</PresentationFormat>
  <Paragraphs>71</Paragraphs>
  <Slides>14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Arial</vt:lpstr>
      <vt:lpstr>Calibri</vt:lpstr>
      <vt:lpstr>Trebuchet MS</vt:lpstr>
      <vt:lpstr>Wingdings</vt:lpstr>
      <vt:lpstr>Wingdings 3</vt:lpstr>
      <vt:lpstr>Facet</vt:lpstr>
      <vt:lpstr>Project Title -Seasonal Agriculture Performance Analysis</vt:lpstr>
      <vt:lpstr>PROBLEM  STATEMENT</vt:lpstr>
      <vt:lpstr>Project Description  </vt:lpstr>
      <vt:lpstr>WHO ARE THE END USERS?</vt:lpstr>
      <vt:lpstr>Technology Used</vt:lpstr>
      <vt:lpstr>RESULTS-Seasonal Performance Comparison </vt:lpstr>
      <vt:lpstr>RESULTS-Environmental &amp; Soil Conditions </vt:lpstr>
      <vt:lpstr>RESULTS-Environmental Factors vs Yield </vt:lpstr>
      <vt:lpstr>RESULTS-Season-wise Environmental Correlation</vt:lpstr>
      <vt:lpstr>RESULTS-Economic Performance Across Seasons</vt:lpstr>
      <vt:lpstr>Future scope</vt:lpstr>
      <vt:lpstr>GitHub Link</vt:lpstr>
      <vt:lpstr>VOIS Course completion certificate -  Course name- Data Visualization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Bhumika Bindagi</cp:lastModifiedBy>
  <cp:revision>100</cp:revision>
  <dcterms:created xsi:type="dcterms:W3CDTF">2021-07-11T13:13:15Z</dcterms:created>
  <dcterms:modified xsi:type="dcterms:W3CDTF">2026-09-08T15:29:09Z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